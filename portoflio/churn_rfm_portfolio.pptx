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5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8F0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936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936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936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936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Cant Lose Them</c:v>
                  </c:pt>
                  <c:pt idx="1">
                    <c:v>Lost</c:v>
                  </c:pt>
                  <c:pt idx="2">
                    <c:v>Hibernating</c:v>
                  </c:pt>
                  <c:pt idx="3">
                    <c:v>At Risk</c:v>
                  </c:pt>
                  <c:pt idx="4">
                    <c:v>Promising</c:v>
                  </c:pt>
                  <c:pt idx="5">
                    <c:v>Potential</c:v>
                  </c:pt>
                  <c:pt idx="6">
                    <c:v>Champions</c:v>
                  </c:pt>
                  <c:pt idx="7">
                    <c:v>Loyal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90.6</c:v>
                </c:pt>
                <c:pt idx="2">
                  <c:v>77.6</c:v>
                </c:pt>
                <c:pt idx="3">
                  <c:v>75.6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52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52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347472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2560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936F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365760"/>
            <a:ext cx="548640" cy="54864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0"/>
            <a:ext cx="365760" cy="365760"/>
          </a:xfrm>
          <a:prstGeom prst="ellipse">
            <a:avLst/>
          </a:prstGeom>
          <a:solidFill>
            <a:srgbClr val="88D498"/>
          </a:solidFill>
          <a:ln w="12700">
            <a:solidFill>
              <a:srgbClr val="88D4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2296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18F0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PORTFOLIO PROJECT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RFM &amp;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8D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E6F0"/>
                </a:solidFill>
              </a:rPr>
              <a:t>Identifying high-value customers and churn risk through behavioral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0"/>
                </a:solidFill>
              </a:rPr>
              <a:t>SQL · BigQuery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374904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0"/>
                </a:solidFill>
              </a:rPr>
              <a:t>RFM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374904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0"/>
                </a:solidFill>
              </a:rPr>
              <a:t>Dec 2010 – Dec 2011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Reta Tri Asriani  |  Entry-Level Data Analyst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4709160"/>
            <a:ext cx="2926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github.com/retatriasriyani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5266"/>
                </a:solidFill>
              </a:rPr>
              <a:t>What happens when businesses don't know who their customers really are?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01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CONTEXT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657600" cy="361188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0"/>
                </a:solidFill>
              </a:rPr>
              <a:t>Without a structured view of customer behavior, businesses apply </a:t>
            </a:r>
            <a:pPr indent="0" marL="0">
              <a:buNone/>
            </a:pPr>
            <a:r>
              <a:rPr lang="en-US" sz="1150" b="1" dirty="0">
                <a:solidFill>
                  <a:srgbClr val="88D498"/>
                </a:solidFill>
              </a:rPr>
              <a:t>blanket marketing strategies</a:t>
            </a:r>
            <a:pPr indent="0" marL="0">
              <a:buNone/>
            </a:pPr>
            <a:r>
              <a:rPr lang="en-US" sz="1150" dirty="0">
                <a:solidFill>
                  <a:srgbClr val="C8E6F0"/>
                </a:solidFill>
              </a:rPr>
              <a:t> — spending budget on low-value customers while neglecting high-value ones.
</a:t>
            </a:r>
            <a:pPr indent="0" marL="0">
              <a:buNone/>
            </a:pPr>
            <a:r>
              <a:rPr lang="en-US" sz="1150" dirty="0">
                <a:solidFill>
                  <a:srgbClr val="C8E6F0"/>
                </a:solidFill>
              </a:rPr>
              <a:t>Retaining an existing customer costs </a:t>
            </a:r>
            <a:pPr indent="0" marL="0">
              <a:buNone/>
            </a:pPr>
            <a:r>
              <a:rPr lang="en-US" sz="1150" b="1" dirty="0">
                <a:solidFill>
                  <a:srgbClr val="F18F01"/>
                </a:solidFill>
              </a:rPr>
              <a:t>5–7× less</a:t>
            </a:r>
            <a:pPr indent="0" marL="0">
              <a:buNone/>
            </a:pPr>
            <a:r>
              <a:rPr lang="en-US" sz="1150" dirty="0">
                <a:solidFill>
                  <a:srgbClr val="C8E6F0"/>
                </a:solidFill>
              </a:rPr>
              <a:t> than acquiring a new one — yet most businesses have no system to identify who is at risk of leaving.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97280"/>
            <a:ext cx="54864" cy="10972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1704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1536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266"/>
                </a:solidFill>
              </a:rPr>
              <a:t>Who are our most and least valuable customers — and why?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33172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331720"/>
            <a:ext cx="54864" cy="10972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04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27706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266"/>
                </a:solidFill>
              </a:rPr>
              <a:t>Which customers are at risk of churning, and how much revenue is at stake?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56616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3566160"/>
            <a:ext cx="54864" cy="10972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26280" y="4005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266"/>
                </a:solidFill>
              </a:rPr>
              <a:t>What is the right action for each customer segment?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BB"/>
                </a:solidFill>
              </a:rPr>
              <a:t>Analyzed using RFM scoring and behavioral churn detection across 4,338 customers · Dec 2010 – Dec 2011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5266"/>
                </a:solidFill>
              </a:rPr>
              <a:t>How was the data cleaned and how were customers scored?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01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9385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78992"/>
            <a:ext cx="54864" cy="960120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541,909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Raw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24328" y="1078992"/>
            <a:ext cx="19385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078992"/>
            <a:ext cx="54864" cy="960120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1155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397,884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61488" y="15544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Valid Rows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(after cleaning)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45736" y="1078992"/>
            <a:ext cx="19385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078992"/>
            <a:ext cx="54864" cy="960120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16" name="Text 14"/>
          <p:cNvSpPr/>
          <p:nvPr/>
        </p:nvSpPr>
        <p:spPr>
          <a:xfrm>
            <a:off x="4882896" y="11155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4,338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82896" y="15544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Unique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Customers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67144" y="1078992"/>
            <a:ext cx="19385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67144" y="1078992"/>
            <a:ext cx="54864" cy="960120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20" name="Text 18"/>
          <p:cNvSpPr/>
          <p:nvPr/>
        </p:nvSpPr>
        <p:spPr>
          <a:xfrm>
            <a:off x="7004304" y="11155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1 Year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15544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Dec 2010–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E5266"/>
                </a:solidFill>
              </a:rPr>
              <a:t>Dec 2011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212848"/>
            <a:ext cx="4023360" cy="2487168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23408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Data Cleaning Steps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✗  NULL CustomerID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32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BB"/>
                </a:solidFill>
              </a:rPr>
              <a:t>135,080 rows (24.9%)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✗  Cancelled transactions (prefix 'C')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3127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BB"/>
                </a:solidFill>
              </a:rPr>
              <a:t>9,288 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✗  Invalid Quantity (≤ 0)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63240" y="3511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BB"/>
                </a:solidFill>
              </a:rPr>
              <a:t>10,624 rows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8953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✗  Invalid UnitPrice (≤ 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3240" y="3895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BB"/>
                </a:solidFill>
              </a:rPr>
              <a:t>2,517 rows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279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D498"/>
                </a:solidFill>
              </a:rPr>
              <a:t>✅  Valid rows retained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6324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8F01"/>
                </a:solidFill>
              </a:rPr>
              <a:t>397,884 (73.4%)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212848"/>
            <a:ext cx="3977640" cy="2487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340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RFM Framework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2761488"/>
            <a:ext cx="54864" cy="566928"/>
          </a:xfrm>
          <a:prstGeom prst="rect">
            <a:avLst/>
          </a:prstGeom>
          <a:solidFill>
            <a:srgbClr val="1A936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  Recency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Days since last purchase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Lower = more recent = better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78040" y="285292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A936F"/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Score 5→1 via NTILE(5)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3419856"/>
            <a:ext cx="54864" cy="566928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F  Frequency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694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Number of unique invoices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Higher = more loyal = better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3511296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26872"/>
          </a:solidFill>
          <a:ln/>
        </p:spPr>
      </p:sp>
      <p:sp>
        <p:nvSpPr>
          <p:cNvPr id="45" name="Text 43"/>
          <p:cNvSpPr/>
          <p:nvPr/>
        </p:nvSpPr>
        <p:spPr>
          <a:xfrm>
            <a:off x="7178040" y="3511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Score 1→5 via NTILE(5)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4078224"/>
            <a:ext cx="54864" cy="56692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105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  Monetary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Total spend in 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266"/>
                </a:solidFill>
              </a:rPr>
              <a:t>Higher = more valuable = better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040" y="416966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18F01"/>
          </a:solidFill>
          <a:ln/>
        </p:spPr>
      </p:sp>
      <p:sp>
        <p:nvSpPr>
          <p:cNvPr id="50" name="Text 48"/>
          <p:cNvSpPr/>
          <p:nvPr/>
        </p:nvSpPr>
        <p:spPr>
          <a:xfrm>
            <a:off x="717804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Score 1→5 via NTILE(5)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BB"/>
                </a:solidFill>
              </a:rPr>
              <a:t>Churn threshold: 90 days of inactivity from snapshot date (2011-12-10)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A8BB"/>
                </a:solidFill>
              </a:rPr>
              <a:t>Business performance snapshot across 4,338 customers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5603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938528" cy="12984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1938528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£8.9M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24328" y="1170432"/>
            <a:ext cx="1938528" cy="12984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170432"/>
            <a:ext cx="1938528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12984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18,532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24328" y="193852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170432"/>
            <a:ext cx="1938528" cy="12984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170432"/>
            <a:ext cx="1938528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12984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£2,054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45736" y="193852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Avg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Lifetime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67144" y="1170432"/>
            <a:ext cx="1938528" cy="12984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67144" y="1170432"/>
            <a:ext cx="1938528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4" y="12984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92.5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67144" y="193852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Avg Recency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(days)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2633472" cy="1993392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81635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02920" y="327355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8D498"/>
                </a:solidFill>
              </a:rPr>
              <a:t>38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94360" y="3785616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countries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82% revenue from UK alone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2743200"/>
            <a:ext cx="2633472" cy="1993392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55848" y="281635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55848" y="327355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8D498"/>
                </a:solidFill>
              </a:rPr>
              <a:t>4.3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447288" y="3785616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avg orders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per customer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8776" y="2743200"/>
            <a:ext cx="2633472" cy="1993392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08776" y="281635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08776" y="327355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8D498"/>
                </a:solidFill>
              </a:rPr>
              <a:t>33.4%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00216" y="3785616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churn 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</a:rPr>
              <a:t>1,449 customers inactive 90+ days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5266"/>
                </a:solidFill>
              </a:rPr>
              <a:t>8 behavioral groups — from Champions to Lost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01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FINDING 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2011680" cy="1627632"/>
          </a:xfrm>
          <a:prstGeom prst="rect">
            <a:avLst/>
          </a:prstGeom>
          <a:solidFill>
            <a:srgbClr val="1A936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Champions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22.2%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962 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65.2% revenue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1078992"/>
            <a:ext cx="2011680" cy="1627632"/>
          </a:xfrm>
          <a:prstGeom prst="rect">
            <a:avLst/>
          </a:prstGeom>
          <a:solidFill>
            <a:srgbClr val="12687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💙 Loyal 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23.0%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998 customers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16.5% 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078992"/>
            <a:ext cx="2011680" cy="1627632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⚠️ At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10.5%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454 customers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</a:rPr>
              <a:t>8.3% revenue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078992"/>
            <a:ext cx="2011680" cy="1627632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😴 Hibernating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5.6%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241 customers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3.7% revenue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07792"/>
            <a:ext cx="2011680" cy="1627632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🌱 Potential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7.4%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9436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319 customers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1.6% revenue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51760" y="2907792"/>
            <a:ext cx="2011680" cy="1627632"/>
          </a:xfrm>
          <a:prstGeom prst="rect">
            <a:avLst/>
          </a:prstGeom>
          <a:solidFill>
            <a:srgbClr val="5B8DE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📣 Promising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8.1%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74320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351 customers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1.8% revenue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907792"/>
            <a:ext cx="2011680" cy="162763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Cant Lose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0.3%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89204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13 customers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0.05% revenue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9440" y="2907792"/>
            <a:ext cx="2011680" cy="1627632"/>
          </a:xfrm>
          <a:prstGeom prst="rect">
            <a:avLst/>
          </a:prstGeom>
          <a:solidFill>
            <a:srgbClr val="8888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408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Lost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23.1%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04088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1,000 customers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2.7% revenue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5266"/>
                </a:solidFill>
              </a:rPr>
              <a:t>💡  Key Insight: Top 2 segments (Champions + Loyal) = 45.2% of customers but generate 81.7% of total revenue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— The Core Business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A8BB"/>
                </a:solidFill>
              </a:rPr>
              <a:t>22.2% of customers. 65.2% of revenue. Non-negotiable to retain.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5603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FINDING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2743200" cy="3566160"/>
          </a:xfrm>
          <a:prstGeom prst="rect">
            <a:avLst/>
          </a:prstGeom>
          <a:solidFill>
            <a:srgbClr val="1A936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17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65.2%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of total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</a:rPr>
              <a:t>from only 962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82112"/>
            <a:ext cx="2103120" cy="2743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£5,809,341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total segment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05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0% churn rate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20440" y="1170432"/>
            <a:ext cx="516636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26187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251960" y="1261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B"/>
                </a:solidFill>
              </a:rPr>
              <a:t>Avg Recency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5361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13 days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51960" y="1938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Purchased just 2 weeks ago on average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377440"/>
            <a:ext cx="516636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2468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51960" y="2468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B"/>
                </a:solidFill>
              </a:rPr>
              <a:t>Avg Frequency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743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11.1 orders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51960" y="31455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Buys consistently — deeply habitual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3584448"/>
            <a:ext cx="516636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251960" y="3675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B"/>
                </a:solidFill>
              </a:rPr>
              <a:t>Avg Spend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3950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£6,039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251960" y="4352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Almost 3× the overall customer average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4663440"/>
            <a:ext cx="5166360" cy="38404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663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🏆  Action: Exclusive loyalty program, early product access, dedicated account treatment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5266"/>
                </a:solidFill>
              </a:rPr>
              <a:t>33.4% of customers haven't purchased in 90+ days — £1M+ in revenue is silent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01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FINDING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263347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78992"/>
            <a:ext cx="54864" cy="111556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C5C"/>
                </a:solidFill>
              </a:rPr>
              <a:t>33.4%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Overall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Churn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078992"/>
            <a:ext cx="263347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078992"/>
            <a:ext cx="54864" cy="111556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8F01"/>
                </a:solidFill>
              </a:rPr>
              <a:t>1,449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11296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Churned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Customers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078992"/>
            <a:ext cx="263347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78992"/>
            <a:ext cx="54864" cy="111556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C5C"/>
                </a:solidFill>
              </a:rPr>
              <a:t>£1,035,270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64224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Revenue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E5266"/>
                </a:solidFill>
              </a:rPr>
              <a:t>at Risk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02920" y="23774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742432" y="2377440"/>
            <a:ext cx="294436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42432" y="2377440"/>
            <a:ext cx="54864" cy="7132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1" name="Text 18"/>
          <p:cNvSpPr/>
          <p:nvPr/>
        </p:nvSpPr>
        <p:spPr>
          <a:xfrm>
            <a:off x="5888736" y="24323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At Risk — 75.6% churn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88736" y="26791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8F01"/>
                </a:solidFill>
              </a:rPr>
              <a:t>£742,150 at risk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88736" y="28529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BB"/>
                </a:solidFill>
              </a:rPr>
              <a:t>Highest-value win-back target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42432" y="3182112"/>
            <a:ext cx="294436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42432" y="3182112"/>
            <a:ext cx="54864" cy="71323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6" name="Text 23"/>
          <p:cNvSpPr/>
          <p:nvPr/>
        </p:nvSpPr>
        <p:spPr>
          <a:xfrm>
            <a:off x="5888736" y="3236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Cant Lose Them — 100% churn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88736" y="34838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</a:rPr>
              <a:t>£4,217 at risk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88736" y="36576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BB"/>
                </a:solidFill>
              </a:rPr>
              <a:t>Personal outreach immediately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42432" y="3986784"/>
            <a:ext cx="294436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742432" y="3986784"/>
            <a:ext cx="54864" cy="7132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1" name="Text 28"/>
          <p:cNvSpPr/>
          <p:nvPr/>
        </p:nvSpPr>
        <p:spPr>
          <a:xfrm>
            <a:off x="5888736" y="40416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Hibernating — 77.6% churn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88736" y="4288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</a:rPr>
              <a:t>£329,638 at risk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88736" y="4462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BB"/>
                </a:solidFill>
              </a:rPr>
              <a:t>Low-cost reactivation campaign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5266"/>
                </a:solidFill>
              </a:rPr>
              <a:t>💡  At Risk is the priority: proven purchase history (avg 3.8 orders, £1,635 spend) but silent for 142 days — highest ROI win-back opportunity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— The Highest Priority Win-Back Segment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A8BB"/>
                </a:solidFill>
              </a:rPr>
              <a:t>454 customers · 75.6% churn rate · £742,150 in revenue at stake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5603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FINDING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Why At Risk deserves the most urgent attention: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5303520" cy="3127248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8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</a:rPr>
                        <a:t>At 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8F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454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Avg Recency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142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219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Avg Frequency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3.8 orders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1.3 orders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Avg Spend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£1,635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£244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Churn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75.6%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90.6%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Total Revenue at 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8F01"/>
                          </a:solidFill>
                        </a:rPr>
                        <a:t>£742,150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A8BB"/>
                          </a:solidFill>
                        </a:rPr>
                        <a:t>£243,935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5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536192"/>
            <a:ext cx="2651760" cy="31272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1664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Win-Back Strategy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103120"/>
            <a:ext cx="274320" cy="2743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10528" y="21031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Identify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10528" y="23408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BB"/>
                </a:solidFill>
              </a:rPr>
              <a:t>Pull At Risk list from BigQuery — filter Recency 90–180 days + Monetary ≥ £1,000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2761488"/>
            <a:ext cx="274320" cy="2743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10528" y="2761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Personalize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10528" y="29992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BB"/>
                </a:solidFill>
              </a:rPr>
              <a:t>Craft email referencing their last purchase category — show you know them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3419856"/>
            <a:ext cx="274320" cy="2743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10528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Incentivize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1052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BB"/>
                </a:solidFill>
              </a:rPr>
              <a:t>Time-limited offer (10–15% off) — urgency drives response rates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72200" y="4078224"/>
            <a:ext cx="274320" cy="2743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10528" y="40782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Monitor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0528" y="4315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BB"/>
                </a:solidFill>
              </a:rPr>
              <a:t>Track response at 2, 4, and 8 weeks post-campaign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E5266"/>
                </a:solidFill>
              </a:rPr>
              <a:t>Segment-specific actions ranked by priority and potential revenue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201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78992"/>
            <a:ext cx="54864" cy="1188720"/>
          </a:xfrm>
          <a:prstGeom prst="rect">
            <a:avLst/>
          </a:prstGeom>
          <a:solidFill>
            <a:srgbClr val="1A936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1521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🔴 CRITICAL  Champions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1426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Launch exclusive loyalty program — early access, VIP perks, dedicated support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" y="19019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36F"/>
                </a:solidFill>
              </a:rPr>
              <a:t>📊  Protects £5.8M (65.2% of revenue)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1078992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078992"/>
            <a:ext cx="54864" cy="118872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1521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🔴 CRITICAL  At Risk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5192" y="1426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Personalized win-back email + time-limited 10–15% discount within 2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19019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</a:rPr>
              <a:t>📊  £742,150 revenue at risk — highest ROI intervention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377440"/>
            <a:ext cx="54864" cy="1188720"/>
          </a:xfrm>
          <a:prstGeom prst="rect">
            <a:avLst/>
          </a:prstGeom>
          <a:solidFill>
            <a:srgbClr val="1268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🟠 HIGH  Loyal Customers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" y="2724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Upsell campaigns, product recommendations, frequency incentives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6872"/>
                </a:solidFill>
              </a:rPr>
              <a:t>📊  £1.47M segment — natural spend-increase candidates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2377440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2377440"/>
            <a:ext cx="54864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🟠 HIGH  Cant Lose Them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65192" y="2724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Direct personal outreach — call or personalized email immediately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65192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📊  100% churned — high purchase history, worth saving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675888"/>
            <a:ext cx="54864" cy="1188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🟡 MEDIUM  Potential Loyalists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" y="4023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Welcome series, product education, gentle nudge campaigns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" y="4498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</a:rPr>
              <a:t>📊  Recent buyers (19 days) not yet habitual — window open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3675888"/>
            <a:ext cx="4069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18888" y="3675888"/>
            <a:ext cx="54864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4965192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⚪ LOW  Lost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65192" y="4023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266"/>
                </a:solidFill>
              </a:rPr>
              <a:t>Exit survey only — do not invest in paid re-engagement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65192" y="4498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</a:rPr>
              <a:t>📊  2.7% revenue contribution — re-acquisition cost too high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retention is not a marketing tactic — it is a revenue protection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2286000" cy="41148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64592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936F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8BB"/>
                </a:solidFill>
              </a:rPr>
              <a:t>Customer Churn Analysis, RFM &amp; Segmentation · Portfolio Project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2029968" cy="102412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7556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8F01"/>
                </a:solidFill>
              </a:rPr>
              <a:t>4,338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221284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Analyzed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691640"/>
            <a:ext cx="2029968" cy="102412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7556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8F01"/>
                </a:solidFill>
              </a:rPr>
              <a:t>8 Segments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73168" y="221284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RFM-Based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Behavioral Groups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86016" y="1691640"/>
            <a:ext cx="2029968" cy="102412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86016" y="17556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8F01"/>
                </a:solidFill>
              </a:rPr>
              <a:t>£1,035,270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86016" y="221284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Revenue at 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6F0"/>
                </a:solidFill>
              </a:rPr>
              <a:t>Quantified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907792"/>
            <a:ext cx="6126480" cy="17190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301752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Connect &amp; Explore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4015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E6F0"/>
                </a:solidFill>
              </a:rPr>
              <a:t>📁  GitHub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9080" y="3401568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github.com/retatriasriyani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6758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E6F0"/>
                </a:solidFill>
              </a:rPr>
              <a:t>📊 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3675888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Looker Studio — Interactive Dashboard (link to be added)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9502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E6F0"/>
                </a:solidFill>
              </a:rPr>
              <a:t>💼  LinkedIn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3950208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linkedin.com/in/reta-tri-asriani-164b18316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2245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E6F0"/>
                </a:solidFill>
              </a:rPr>
              <a:t>✉️  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4224528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retatriasriyanipcy6@gmail.com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936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Reta Tri Asriani  ·  Entry-Level Data Analyst  ·  SQL · BigQuery · RFM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Analysis, RFM &amp; Segmentation</dc:title>
  <dc:subject>PptxGenJS Presentation</dc:subject>
  <dc:creator>Reta Tri Asriani</dc:creator>
  <cp:lastModifiedBy>Reta Tri Asriani</cp:lastModifiedBy>
  <cp:revision>1</cp:revision>
  <dcterms:created xsi:type="dcterms:W3CDTF">2026-05-24T02:22:22Z</dcterms:created>
  <dcterms:modified xsi:type="dcterms:W3CDTF">2026-05-24T02:22:22Z</dcterms:modified>
</cp:coreProperties>
</file>